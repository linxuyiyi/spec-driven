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范式类测试 E2E 测试方案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目标：从需求到测试结果端到端测试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914400"/>
            <a:ext cx="1005840" cy="274320"/>
          </a:xfrm>
          <a:prstGeom prst="roundRect">
            <a:avLst/>
          </a:prstGeom>
          <a:solidFill>
            <a:srgbClr val="1E3A5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932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</a:defRPr>
            </a:pPr>
            <a:r>
              <a:t>参数约束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914400"/>
            <a:ext cx="1005840" cy="274320"/>
          </a:xfrm>
          <a:prstGeom prst="roundRect">
            <a:avLst/>
          </a:prstGeom>
          <a:solidFill>
            <a:srgbClr val="1E3A5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59" y="932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</a:defRPr>
            </a:pPr>
            <a:r>
              <a:t>参数升级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914400"/>
            <a:ext cx="1005840" cy="274320"/>
          </a:xfrm>
          <a:prstGeom prst="roundRect">
            <a:avLst/>
          </a:prstGeom>
          <a:solidFill>
            <a:srgbClr val="1E3A5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9326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8BDF8"/>
                </a:solidFill>
              </a:defRPr>
            </a:pPr>
            <a:r>
              <a:t>License 校验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71600"/>
            <a:ext cx="54864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3716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</a:defRPr>
            </a:pPr>
            <a:r>
              <a:t>业务流程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645920"/>
            <a:ext cx="2286000" cy="640080"/>
          </a:xfrm>
          <a:prstGeom prst="roundRect">
            <a:avLst/>
          </a:prstGeom>
          <a:solidFill>
            <a:srgbClr val="1E3A5F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190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需求描述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原始需求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88920" y="1874519"/>
            <a:ext cx="274320" cy="10972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08960" y="1645920"/>
            <a:ext cx="2286000" cy="640080"/>
          </a:xfrm>
          <a:prstGeom prst="roundRect">
            <a:avLst/>
          </a:prstGeom>
          <a:solidFill>
            <a:srgbClr val="1E3A5F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7190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文本用例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结构化要素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440679" y="1874519"/>
            <a:ext cx="274320" cy="10972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0" y="1645920"/>
            <a:ext cx="2286000" cy="640080"/>
          </a:xfrm>
          <a:prstGeom prst="roundRect">
            <a:avLst/>
          </a:prstGeom>
          <a:solidFill>
            <a:srgbClr val="1E3A5F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59" y="17190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脚本用例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可执行脚本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92440" y="1874519"/>
            <a:ext cx="274320" cy="109728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0" y="1645920"/>
            <a:ext cx="2286000" cy="640080"/>
          </a:xfrm>
          <a:prstGeom prst="roundRect">
            <a:avLst/>
          </a:prstGeom>
          <a:solidFill>
            <a:srgbClr val="1E3A5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17190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</a:defRPr>
            </a:pPr>
            <a:r>
              <a:t>测试结果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</a:defRPr>
            </a:pPr>
            <a:r>
              <a:t>E2E反馈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468880"/>
            <a:ext cx="54864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</a:defRPr>
            </a:pPr>
            <a:r>
              <a:t>E2E 动作流程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743200"/>
            <a:ext cx="1783080" cy="502920"/>
          </a:xfrm>
          <a:prstGeom prst="roundRect">
            <a:avLst/>
          </a:prstGeom>
          <a:solidFill>
            <a:srgbClr val="1E3A5F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7797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2E8F0"/>
                </a:solidFill>
              </a:defRPr>
            </a:pPr>
            <a:r>
              <a:t>获取原始需求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29992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8BDF8"/>
                </a:solidFill>
              </a:defRPr>
            </a:pPr>
            <a:r>
              <a:t>Input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194560" y="2926080"/>
            <a:ext cx="54864" cy="9144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267712" y="2743200"/>
            <a:ext cx="1783080" cy="502920"/>
          </a:xfrm>
          <a:prstGeom prst="roundRect">
            <a:avLst/>
          </a:prstGeom>
          <a:solidFill>
            <a:srgbClr val="1E3A5F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40864" y="27797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2E8F0"/>
                </a:solidFill>
              </a:defRPr>
            </a:pPr>
            <a:r>
              <a:t>结构化测试要素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40864" y="29992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8BDF8"/>
                </a:solidFill>
              </a:defRPr>
            </a:pPr>
            <a:r>
              <a:t>TFO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096512" y="2926080"/>
            <a:ext cx="54864" cy="9144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169664" y="2743200"/>
            <a:ext cx="1783080" cy="502920"/>
          </a:xfrm>
          <a:prstGeom prst="roundRect">
            <a:avLst/>
          </a:prstGeom>
          <a:solidFill>
            <a:srgbClr val="1E3A5F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42816" y="27797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2E8F0"/>
                </a:solidFill>
              </a:defRPr>
            </a:pPr>
            <a:r>
              <a:t>设计文本用例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42816" y="29992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8BDF8"/>
                </a:solidFill>
              </a:defRPr>
            </a:pPr>
            <a:r>
              <a:t>TFO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998464" y="2926080"/>
            <a:ext cx="54864" cy="9144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071616" y="2743200"/>
            <a:ext cx="1783080" cy="502920"/>
          </a:xfrm>
          <a:prstGeom prst="roundRect">
            <a:avLst/>
          </a:prstGeom>
          <a:solidFill>
            <a:srgbClr val="1E3A5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27797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2E8F0"/>
                </a:solidFill>
              </a:defRPr>
            </a:pPr>
            <a:r>
              <a:t>审核文本用例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9992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8BDF8"/>
                </a:solidFill>
              </a:defRPr>
            </a:pPr>
            <a:r>
              <a:t>MDE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900416" y="2926080"/>
            <a:ext cx="54864" cy="9144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973568" y="2743200"/>
            <a:ext cx="1783080" cy="502920"/>
          </a:xfrm>
          <a:prstGeom prst="roundRect">
            <a:avLst/>
          </a:prstGeom>
          <a:solidFill>
            <a:srgbClr val="1E3A5F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27797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2E8F0"/>
                </a:solidFill>
              </a:defRPr>
            </a:pPr>
            <a:r>
              <a:t>生成脚本用例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29992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8BDF8"/>
                </a:solidFill>
              </a:defRPr>
            </a:pPr>
            <a:r>
              <a:t>AE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802368" y="2926080"/>
            <a:ext cx="54864" cy="9144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875520" y="2743200"/>
            <a:ext cx="1783080" cy="502920"/>
          </a:xfrm>
          <a:prstGeom prst="roundRect">
            <a:avLst/>
          </a:prstGeom>
          <a:solidFill>
            <a:srgbClr val="1E3A5F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48672" y="27797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2E8F0"/>
                </a:solidFill>
              </a:defRPr>
            </a:pPr>
            <a:r>
              <a:t>匹配测试环境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48672" y="29992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8BDF8"/>
                </a:solidFill>
              </a:defRPr>
            </a:pPr>
            <a:r>
              <a:t>AE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86000" y="3337560"/>
            <a:ext cx="2148840" cy="502920"/>
          </a:xfrm>
          <a:prstGeom prst="roundRect">
            <a:avLst/>
          </a:prstGeom>
          <a:solidFill>
            <a:srgbClr val="1E3A5F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59152" y="33741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2E8F0"/>
                </a:solidFill>
              </a:defRPr>
            </a:pPr>
            <a:r>
              <a:t>运行调试脚本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59152" y="35935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8BDF8"/>
                </a:solidFill>
              </a:defRPr>
            </a:pPr>
            <a:r>
              <a:t>AE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4480560" y="3520440"/>
            <a:ext cx="137160" cy="9144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663440" y="3337560"/>
            <a:ext cx="2148840" cy="502920"/>
          </a:xfrm>
          <a:prstGeom prst="roundRect">
            <a:avLst/>
          </a:prstGeom>
          <a:solidFill>
            <a:srgbClr val="1E3A5F"/>
          </a:solidFill>
          <a:ln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36592" y="33741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2E8F0"/>
                </a:solidFill>
              </a:defRPr>
            </a:pPr>
            <a:r>
              <a:t>创建上库MR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36592" y="35935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8BDF8"/>
                </a:solidFill>
              </a:defRPr>
            </a:pPr>
            <a:r>
              <a:t>AE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6858000" y="3520440"/>
            <a:ext cx="137160" cy="9144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040880" y="3337560"/>
            <a:ext cx="2148840" cy="502920"/>
          </a:xfrm>
          <a:prstGeom prst="roundRect">
            <a:avLst/>
          </a:prstGeom>
          <a:solidFill>
            <a:srgbClr val="1E3A5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14032" y="33741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2E8F0"/>
                </a:solidFill>
              </a:defRPr>
            </a:pPr>
            <a:r>
              <a:t>审核脚本用例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4032" y="35935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8BDF8"/>
                </a:solidFill>
              </a:defRPr>
            </a:pPr>
            <a:r>
              <a:t>MDE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9235440" y="3520440"/>
            <a:ext cx="137160" cy="9144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418320" y="3337560"/>
            <a:ext cx="2148840" cy="502920"/>
          </a:xfrm>
          <a:prstGeom prst="roundRect">
            <a:avLst/>
          </a:prstGeom>
          <a:solidFill>
            <a:srgbClr val="1E3A5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491472" y="33741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2E8F0"/>
                </a:solidFill>
              </a:defRPr>
            </a:pPr>
            <a:r>
              <a:t>创建流水线任务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91472" y="35935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8BDF8"/>
                </a:solidFill>
              </a:defRPr>
            </a:pPr>
            <a:r>
              <a:t>TE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11247120" y="3246120"/>
            <a:ext cx="109728" cy="91440"/>
          </a:xfrm>
          <a:prstGeom prst="down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5760" y="4023360"/>
            <a:ext cx="54864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</a:defRPr>
            </a:pPr>
            <a:r>
              <a:t>难点与挑战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65760" y="4297680"/>
            <a:ext cx="228600" cy="2286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2336" y="431596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7171"/>
                </a:solidFill>
              </a:defRPr>
            </a:pPr>
            <a:r>
              <a:t>!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</a:defRPr>
            </a:pPr>
            <a:r>
              <a:t>AI 缺少无线业务背景，业务规则或惯例可能遗漏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5760" y="4681728"/>
            <a:ext cx="228600" cy="2286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2336" y="470001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7171"/>
                </a:solidFill>
              </a:defRPr>
            </a:pPr>
            <a:r>
              <a:t>!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</a:defRPr>
            </a:pPr>
            <a:r>
              <a:t>AI 理解原始需求偏差导致整体方向错误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" y="5065776"/>
            <a:ext cx="228600" cy="228600"/>
          </a:xfrm>
          <a:prstGeom prst="round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2336" y="5084064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7171"/>
                </a:solidFill>
              </a:defRPr>
            </a:pPr>
            <a:r>
              <a:t>!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0657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</a:defRPr>
            </a:pPr>
            <a:r>
              <a:t>AI 调试时对环境/产品问题识别困难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4023360"/>
            <a:ext cx="54864" cy="20116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27648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</a:defRPr>
            </a:pPr>
            <a:r>
              <a:t>解决措施</a:t>
            </a:r>
          </a:p>
        </p:txBody>
      </p:sp>
      <p:sp>
        <p:nvSpPr>
          <p:cNvPr id="82" name="Oval 81"/>
          <p:cNvSpPr/>
          <p:nvPr/>
        </p:nvSpPr>
        <p:spPr>
          <a:xfrm>
            <a:off x="6217920" y="4343400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45352" y="4361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37960" y="4343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</a:defRPr>
            </a:pPr>
            <a:r>
              <a:t>构建范式测试指导书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75120" y="46177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• 参数 OCL 设计指导书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75120" y="4846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• 参数升级设计指导书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75120" y="50749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• 无线参数定义说明书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75120" y="53035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• 无线 License 定义说明书</a:t>
            </a:r>
          </a:p>
        </p:txBody>
      </p:sp>
      <p:sp>
        <p:nvSpPr>
          <p:cNvPr id="89" name="Oval 88"/>
          <p:cNvSpPr/>
          <p:nvPr/>
        </p:nvSpPr>
        <p:spPr>
          <a:xfrm>
            <a:off x="6217920" y="5577840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245352" y="559612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37960" y="55778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</a:defRPr>
            </a:pPr>
            <a:r>
              <a:t>多 Agent 协作智能团队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75120" y="5852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</a:defRPr>
            </a:pPr>
            <a:r>
              <a:t>MDE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32320" y="5852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测试设计审核人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18320" y="58521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</a:defRPr>
            </a:pPr>
            <a:r>
              <a:t>TFO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875520" y="5852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测试设计负责人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75120" y="6172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</a:defRPr>
            </a:pPr>
            <a:r>
              <a:t>AE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32320" y="6172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脚本工程师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18320" y="6172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BDF8"/>
                </a:solidFill>
              </a:defRPr>
            </a:pPr>
            <a:r>
              <a:t>TE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75520" y="61722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</a:defRPr>
            </a:pPr>
            <a:r>
              <a:t>测试执行人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114800" y="6446520"/>
            <a:ext cx="1371600" cy="292608"/>
          </a:xfrm>
          <a:prstGeom prst="roundRect">
            <a:avLst/>
          </a:prstGeom>
          <a:solidFill>
            <a:srgbClr val="1E3A5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160520" y="64648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E2E 端到端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760720" y="6446520"/>
            <a:ext cx="1371600" cy="292608"/>
          </a:xfrm>
          <a:prstGeom prst="roundRect">
            <a:avLst/>
          </a:prstGeom>
          <a:solidFill>
            <a:srgbClr val="1E3A5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806440" y="64648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多 Agent 协作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406640" y="6446520"/>
            <a:ext cx="1371600" cy="292608"/>
          </a:xfrm>
          <a:prstGeom prst="roundRect">
            <a:avLst/>
          </a:prstGeom>
          <a:solidFill>
            <a:srgbClr val="1E3A5F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52360" y="64648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范式测试驱动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